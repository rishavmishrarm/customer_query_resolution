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RAG Score (%)</c:v>
                </c:pt>
              </c:strCache>
            </c:strRef>
          </c:tx>
          <c:spPr>
            <a:solidFill>
              <a:srgbClr val="16325B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Precision@3</c:v>
                </c:pt>
                <c:pt idx="1">
                  <c:v>Recall@3</c:v>
                </c:pt>
                <c:pt idx="2">
                  <c:v>Context Rel.</c:v>
                </c:pt>
                <c:pt idx="3">
                  <c:v>Faithfulness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92.4</c:v>
                </c:pt>
                <c:pt idx="1">
                  <c:v>94.1</c:v>
                </c:pt>
                <c:pt idx="2">
                  <c:v>93</c:v>
                </c:pt>
                <c:pt idx="3">
                  <c:v>96.8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129-4E30-BB01-5F9920E40E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rlito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8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rlito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Proposed Model (%)</c:v>
                </c:pt>
              </c:strCache>
            </c:strRef>
          </c:tx>
          <c:spPr>
            <a:solidFill>
              <a:srgbClr val="7A1C24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Faithfulness</c:v>
                </c:pt>
                <c:pt idx="2">
                  <c:v>Groundedness</c:v>
                </c:pt>
                <c:pt idx="3">
                  <c:v>Factuality</c:v>
                </c:pt>
                <c:pt idx="4">
                  <c:v>Voice Align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94.6</c:v>
                </c:pt>
                <c:pt idx="1">
                  <c:v>97.8</c:v>
                </c:pt>
                <c:pt idx="2">
                  <c:v>97.2</c:v>
                </c:pt>
                <c:pt idx="3">
                  <c:v>98.1</c:v>
                </c:pt>
                <c:pt idx="4">
                  <c:v>95.2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F9E-40B5-9559-A9DB884CCF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rlito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8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rlito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Seconds (s)</c:v>
                </c:pt>
              </c:strCache>
            </c:strRef>
          </c:tx>
          <c:spPr>
            <a:solidFill>
              <a:srgbClr val="16325B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STT (0.3s)</c:v>
                </c:pt>
                <c:pt idx="1">
                  <c:v>Typ. LLM (0.55s)</c:v>
                </c:pt>
                <c:pt idx="2">
                  <c:v>Max LLM (1.8s)</c:v>
                </c:pt>
                <c:pt idx="3">
                  <c:v>Typ. Total (0.85s)</c:v>
                </c:pt>
                <c:pt idx="4">
                  <c:v>SLA Limit (5.0s)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</c:v>
                </c:pt>
                <c:pt idx="1">
                  <c:v>0.55000000000000004</c:v>
                </c:pt>
                <c:pt idx="2">
                  <c:v>1.8</c:v>
                </c:pt>
                <c:pt idx="3">
                  <c:v>0.85</c:v>
                </c:pt>
                <c:pt idx="4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1A4-48BC-AFAE-25C2BB3CF3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rlito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.5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rlito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6325B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Baseline Gemma 4 26B</c:v>
                </c:pt>
                <c:pt idx="1">
                  <c:v>Fine-Tuned + RAG</c:v>
                </c:pt>
                <c:pt idx="2">
                  <c:v>Fine-Tuned + CAI (Ours)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71.400000000000006</c:v>
                </c:pt>
                <c:pt idx="1">
                  <c:v>91.8</c:v>
                </c:pt>
                <c:pt idx="2">
                  <c:v>94.6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4B8-4DFD-BB0F-CCD1035E75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Hallucination (%)</c:v>
                </c:pt>
              </c:strCache>
            </c:strRef>
          </c:tx>
          <c:spPr>
            <a:solidFill>
              <a:srgbClr val="7A1C24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Baseline Gemma 4 26B</c:v>
                </c:pt>
                <c:pt idx="1">
                  <c:v>Fine-Tuned + RAG</c:v>
                </c:pt>
                <c:pt idx="2">
                  <c:v>Fine-Tuned + CAI (Ours)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14.8</c:v>
                </c:pt>
                <c:pt idx="1">
                  <c:v>4.3</c:v>
                </c:pt>
                <c:pt idx="2">
                  <c:v>1.2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4B8-4DFD-BB0F-CCD1035E75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rlito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rlito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latin typeface="Carlito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tp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77240"/>
            <a:ext cx="1325880" cy="1325880"/>
          </a:xfrm>
          <a:prstGeom prst="rect">
            <a:avLst/>
          </a:prstGeom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731520" y="2331720"/>
            <a:ext cx="10698480" cy="2743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698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D4AF37"/>
                </a:solidFill>
                <a:latin typeface="Carlito"/>
              </a:rPr>
              <a:t>INDIAN INSTITUTE OF TECHNOLOGY PATNA  ·  M.TECH AI &amp; DATA SCIENCE</a:t>
            </a:r>
          </a:p>
          <a:p>
            <a:pPr>
              <a:spcAft>
                <a:spcPts val="1600"/>
              </a:spcAft>
            </a:pPr>
            <a:r>
              <a:rPr sz="4600" b="1">
                <a:solidFill>
                  <a:srgbClr val="FDFBF7"/>
                </a:solidFill>
                <a:latin typeface="Caladea"/>
              </a:rPr>
              <a:t>Real-Time FinTech Agent-Assist Copilot</a:t>
            </a:r>
          </a:p>
          <a:p>
            <a:r>
              <a:rPr sz="2200">
                <a:solidFill>
                  <a:srgbClr val="E2D9C8"/>
                </a:solidFill>
                <a:latin typeface="Carlito"/>
              </a:rPr>
              <a:t>On-Screen Customer Context, Live Call Tap-to-Now &amp; Instant SOP 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669280"/>
            <a:ext cx="10698480" cy="182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600" b="1" dirty="0">
                <a:solidFill>
                  <a:srgbClr val="D4AF37"/>
                </a:solidFill>
                <a:latin typeface="Carlito"/>
              </a:rPr>
              <a:t>Presented By: Rishav Kumar Mishra  |  Reg No.: 25s08res51  |  Date: 25/10/2026 | Instructor: Prof. Rajiv Misra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tp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95097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24"/>
                </a:solidFill>
                <a:latin typeface="Carlito"/>
              </a:rPr>
              <a:t>SLIDE 2 · INDUSTRY USE CASE &amp; BUSINESS PROBLEM</a:t>
            </a:r>
          </a:p>
          <a:p>
            <a:pPr algn="l"/>
            <a:r>
              <a:rPr sz="3000" b="1">
                <a:solidFill>
                  <a:srgbClr val="0B192C"/>
                </a:solidFill>
                <a:latin typeface="Caladea"/>
              </a:rPr>
              <a:t>Bank Call Agents Lack Caller Context &amp; Instant SOP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69848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120640" cy="3977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7A1C24"/>
                </a:solidFill>
                <a:latin typeface="Caladea"/>
              </a:rPr>
              <a:t>The Core Banking Call Center Problem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Blind Call Pickup: </a:t>
            </a:r>
            <a:r>
              <a:rPr sz="1400">
                <a:solidFill>
                  <a:srgbClr val="4A453E"/>
                </a:solidFill>
                <a:latin typeface="Carlito"/>
              </a:rPr>
              <a:t>When a customer calls the bank, a human agent picks up without knowing why the customer is calling.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Unfamiliar Policy Queries: </a:t>
            </a:r>
            <a:r>
              <a:rPr sz="1400">
                <a:solidFill>
                  <a:srgbClr val="4A453E"/>
                </a:solidFill>
                <a:latin typeface="Carlito"/>
              </a:rPr>
              <a:t>Customers ask specific account, transaction, or policy questions that the agent is not aware of on the spot.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Manual SOP Search Delays: </a:t>
            </a:r>
            <a:r>
              <a:rPr sz="1400">
                <a:solidFill>
                  <a:srgbClr val="4A453E"/>
                </a:solidFill>
                <a:latin typeface="Carlito"/>
              </a:rPr>
              <a:t>Agents must put callers on hold for 3-5 minutes to hunt through complex bank SOPs and policy PDFs.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Escalations &amp; Errors: </a:t>
            </a:r>
            <a:r>
              <a:rPr sz="1400">
                <a:solidFill>
                  <a:srgbClr val="4A453E"/>
                </a:solidFill>
                <a:latin typeface="Carlito"/>
              </a:rPr>
              <a:t>Guessing or incomplete awareness causes compliance mistakes and 40%+ Tier-2 escalations.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011680"/>
            <a:ext cx="5120640" cy="3977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6325B"/>
                </a:solidFill>
                <a:latin typeface="Caladea"/>
              </a:rPr>
              <a:t>Our GenAI Solution &amp; Expected Business Value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Pre-Call MongoDB Drop: </a:t>
            </a:r>
            <a:r>
              <a:rPr sz="1400">
                <a:solidFill>
                  <a:srgbClr val="4A453E"/>
                </a:solidFill>
                <a:latin typeface="Carlito"/>
              </a:rPr>
              <a:t>When the agent takes the call, upstream bank data is dropped into MongoDB and shown on screen immediately.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Tap-to-Now Audio Capture: </a:t>
            </a:r>
            <a:r>
              <a:rPr sz="1400">
                <a:solidFill>
                  <a:srgbClr val="4A453E"/>
                </a:solidFill>
                <a:latin typeface="Carlito"/>
              </a:rPr>
              <a:t>The screen shows live customer talking time; the agent taps from where the question started up to 'Now'.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Instant SOP/Policy Script: </a:t>
            </a:r>
            <a:r>
              <a:rPr sz="1400">
                <a:solidFill>
                  <a:srgbClr val="4A453E"/>
                </a:solidFill>
                <a:latin typeface="Carlito"/>
              </a:rPr>
              <a:t>STT + Gemma 4 26B processes the tapped voice clip and displays the exact SOP/Policy answer on screen.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Measurable Impact: </a:t>
            </a:r>
            <a:r>
              <a:rPr sz="1400">
                <a:solidFill>
                  <a:srgbClr val="4A453E"/>
                </a:solidFill>
                <a:latin typeface="Carlito"/>
              </a:rPr>
              <a:t>Cuts Average Handle Time (AHT) by 45%, reduces escalations by 60%, and ensures 99%+ policy accuracy.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91072"/>
            <a:ext cx="10698480" cy="1828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453E"/>
                </a:solidFill>
                <a:latin typeface="Carlito"/>
              </a:rPr>
              <a:t>Indian Institute of Technology Patna  ·  M.Tech AI &amp; Data Science  ·  Prof. Rajiv Misra  ·  Slide 2 of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tp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95097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24"/>
                </a:solidFill>
                <a:latin typeface="Carlito"/>
              </a:rPr>
              <a:t>SLIDE 3 · PROBLEM FORMULATION &amp; REQUIREMENTS</a:t>
            </a:r>
          </a:p>
          <a:p>
            <a:pPr algn="l"/>
            <a:r>
              <a:rPr sz="3000" b="1">
                <a:solidFill>
                  <a:srgbClr val="0B192C"/>
                </a:solidFill>
                <a:latin typeface="Caladea"/>
              </a:rPr>
              <a:t>Tap-to-Now Voice &amp; Pre-Dropped MongoDB Meet Sub-2.1s SLA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69848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291840" cy="4069080"/>
          </a:xfrm>
          <a:prstGeom prst="roundRect">
            <a:avLst>
              <a:gd name="adj" fmla="val 5000"/>
            </a:avLst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212848"/>
            <a:ext cx="2889504" cy="3520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7A1C24"/>
                </a:solidFill>
                <a:latin typeface="Caladea"/>
              </a:rPr>
              <a:t>Input -&gt; AI -&gt; Output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1. Screen Context: </a:t>
            </a:r>
            <a:r>
              <a:rPr sz="1400">
                <a:solidFill>
                  <a:srgbClr val="4A453E"/>
                </a:solidFill>
                <a:latin typeface="Carlito"/>
              </a:rPr>
              <a:t>Bank data drops into MongoDB on call connect and shows on agent UI.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2. Tap Start -&gt; Now: </a:t>
            </a:r>
            <a:r>
              <a:rPr sz="1400">
                <a:solidFill>
                  <a:srgbClr val="4A453E"/>
                </a:solidFill>
                <a:latin typeface="Carlito"/>
              </a:rPr>
              <a:t>Agent sees live talking time on screen and taps question start to 'Now'.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3. SOP Output: </a:t>
            </a:r>
            <a:r>
              <a:rPr sz="1400">
                <a:solidFill>
                  <a:srgbClr val="4A453E"/>
                </a:solidFill>
                <a:latin typeface="Carlito"/>
              </a:rPr>
              <a:t>Tapped voice -&gt; STT + Gemma 4 26B -&gt; SOP response shown on screen.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11680"/>
            <a:ext cx="3291840" cy="4069080"/>
          </a:xfrm>
          <a:prstGeom prst="roundRect">
            <a:avLst>
              <a:gd name="adj" fmla="val 5000"/>
            </a:avLst>
          </a:prstGeom>
          <a:solidFill>
            <a:srgbClr val="F9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2212848"/>
            <a:ext cx="2889504" cy="3520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6325B"/>
                </a:solidFill>
                <a:latin typeface="Caladea"/>
              </a:rPr>
              <a:t>Latency &amp; TTR SLA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STT Latency: </a:t>
            </a:r>
            <a:r>
              <a:rPr sz="1400">
                <a:solidFill>
                  <a:srgbClr val="4A453E"/>
                </a:solidFill>
                <a:latin typeface="Carlito"/>
              </a:rPr>
              <a:t>300 ms (0.3 s) to transcribe the tapped customer voice clip (Start -&gt; Now).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SOP RAG + LLM: </a:t>
            </a:r>
            <a:r>
              <a:rPr sz="1400">
                <a:solidFill>
                  <a:srgbClr val="4A453E"/>
                </a:solidFill>
                <a:latin typeface="Carlito"/>
              </a:rPr>
              <a:t>0.5 s typical (1.8 s max ceiling) for MongoDB context + SOP RAG via LiteLLM.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Total SLA &amp; TTR: </a:t>
            </a:r>
            <a:r>
              <a:rPr sz="1400">
                <a:solidFill>
                  <a:srgbClr val="4A453E"/>
                </a:solidFill>
                <a:latin typeface="Carlito"/>
              </a:rPr>
              <a:t>0.85 s avg (&lt; 2.1 s max vs &lt; 5 s target); Target TTR &lt; 10 s for resolution.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291840" cy="4069080"/>
          </a:xfrm>
          <a:prstGeom prst="roundRect">
            <a:avLst>
              <a:gd name="adj" fmla="val 5000"/>
            </a:avLst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8" y="2212848"/>
            <a:ext cx="2889504" cy="3520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7A1C24"/>
                </a:solidFill>
                <a:latin typeface="Caladea"/>
              </a:rPr>
              <a:t>Accuracy &amp; Security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SOP Groundedness: </a:t>
            </a:r>
            <a:r>
              <a:rPr sz="1400">
                <a:solidFill>
                  <a:srgbClr val="4A453E"/>
                </a:solidFill>
                <a:latin typeface="Carlito"/>
              </a:rPr>
              <a:t>&gt; 94% factual accuracy on bank SOPs, policies, and live MongoDB records.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Data Privacy: </a:t>
            </a:r>
            <a:r>
              <a:rPr sz="1400">
                <a:solidFill>
                  <a:srgbClr val="4A453E"/>
                </a:solidFill>
                <a:latin typeface="Carlito"/>
              </a:rPr>
              <a:t>Automated PII masking for PAN, Aadhaar, CVV, and account IDs pre-inference.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Compliance Rules: </a:t>
            </a:r>
            <a:r>
              <a:rPr sz="1400">
                <a:solidFill>
                  <a:srgbClr val="4A453E"/>
                </a:solidFill>
                <a:latin typeface="Carlito"/>
              </a:rPr>
              <a:t>Strict RBI &amp; bank compliance guardrails with read-only DB access and logs.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91072"/>
            <a:ext cx="10698480" cy="1828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453E"/>
                </a:solidFill>
                <a:latin typeface="Carlito"/>
              </a:rPr>
              <a:t>Indian Institute of Technology Patna  ·  M.Tech AI &amp; Data Science  ·  Prof. Rajiv Misra  ·  Slide 3 of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tp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95097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24"/>
                </a:solidFill>
                <a:latin typeface="Carlito"/>
              </a:rPr>
              <a:t>SLIDE 4 · TECH STACK ARCHITECTURE</a:t>
            </a:r>
          </a:p>
          <a:p>
            <a:pPr algn="l"/>
            <a:r>
              <a:rPr sz="2800" b="1">
                <a:solidFill>
                  <a:srgbClr val="0B192C"/>
                </a:solidFill>
                <a:latin typeface="Caladea"/>
              </a:rPr>
              <a:t>Tech Stack Architecture: STT, MongoDB, Vector DB &amp; LiteLLM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69848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627632" cy="1325880"/>
          </a:xfrm>
          <a:prstGeom prst="roundRect">
            <a:avLst>
              <a:gd name="adj" fmla="val 5000"/>
            </a:avLst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2618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7A1C24"/>
                </a:solidFill>
                <a:latin typeface="Caladea"/>
              </a:rPr>
              <a:t>1. React + WebRTC</a:t>
            </a:r>
          </a:p>
          <a:p>
            <a:r>
              <a:rPr sz="1400">
                <a:solidFill>
                  <a:srgbClr val="0B192C"/>
                </a:solidFill>
                <a:latin typeface="Carlito"/>
              </a:rPr>
              <a:t>Agent UI &amp; Tap bar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2011680"/>
            <a:ext cx="1627632" cy="1325880"/>
          </a:xfrm>
          <a:prstGeom prst="roundRect">
            <a:avLst>
              <a:gd name="adj" fmla="val 5000"/>
            </a:avLst>
          </a:prstGeom>
          <a:solidFill>
            <a:srgbClr val="F9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24912" y="2194560"/>
            <a:ext cx="12618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6325B"/>
                </a:solidFill>
                <a:latin typeface="Caladea"/>
              </a:rPr>
              <a:t>2. Whisper STT</a:t>
            </a:r>
          </a:p>
          <a:p>
            <a:r>
              <a:rPr sz="1400">
                <a:solidFill>
                  <a:srgbClr val="0B192C"/>
                </a:solidFill>
                <a:latin typeface="Carlito"/>
              </a:rPr>
              <a:t>300ms audio-to-text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2011680"/>
            <a:ext cx="1627632" cy="1325880"/>
          </a:xfrm>
          <a:prstGeom prst="roundRect">
            <a:avLst>
              <a:gd name="adj" fmla="val 5000"/>
            </a:avLst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5424" y="2194560"/>
            <a:ext cx="12618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7A1C24"/>
                </a:solidFill>
                <a:latin typeface="Caladea"/>
              </a:rPr>
              <a:t>3. MongoDB</a:t>
            </a:r>
          </a:p>
          <a:p>
            <a:r>
              <a:rPr sz="1400">
                <a:solidFill>
                  <a:srgbClr val="0B192C"/>
                </a:solidFill>
                <a:latin typeface="Carlito"/>
              </a:rPr>
              <a:t>Call-drop JSON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2011680"/>
            <a:ext cx="1627632" cy="1325880"/>
          </a:xfrm>
          <a:prstGeom prst="roundRect">
            <a:avLst>
              <a:gd name="adj" fmla="val 5000"/>
            </a:avLst>
          </a:prstGeom>
          <a:solidFill>
            <a:srgbClr val="F9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2194560"/>
            <a:ext cx="12618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16325B"/>
                </a:solidFill>
                <a:latin typeface="Caladea"/>
              </a:rPr>
              <a:t>4. Vector DB</a:t>
            </a:r>
          </a:p>
          <a:p>
            <a:r>
              <a:rPr sz="1400" dirty="0" err="1">
                <a:solidFill>
                  <a:srgbClr val="0B192C"/>
                </a:solidFill>
                <a:latin typeface="Carlito"/>
              </a:rPr>
              <a:t>Qdrant</a:t>
            </a:r>
            <a:r>
              <a:rPr sz="1400" dirty="0">
                <a:solidFill>
                  <a:srgbClr val="0B192C"/>
                </a:solidFill>
                <a:latin typeface="Carlito"/>
              </a:rPr>
              <a:t> + </a:t>
            </a:r>
            <a:r>
              <a:rPr sz="1400" dirty="0" err="1">
                <a:solidFill>
                  <a:srgbClr val="0B192C"/>
                </a:solidFill>
                <a:latin typeface="Carlito"/>
              </a:rPr>
              <a:t>bge</a:t>
            </a:r>
            <a:r>
              <a:rPr sz="1400" dirty="0">
                <a:solidFill>
                  <a:srgbClr val="0B192C"/>
                </a:solidFill>
                <a:latin typeface="Carlito"/>
              </a:rPr>
              <a:t>-large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2011680"/>
            <a:ext cx="1627632" cy="1325880"/>
          </a:xfrm>
          <a:prstGeom prst="roundRect">
            <a:avLst>
              <a:gd name="adj" fmla="val 5000"/>
            </a:avLst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2194560"/>
            <a:ext cx="12618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7A1C24"/>
                </a:solidFill>
                <a:latin typeface="Caladea"/>
              </a:rPr>
              <a:t>5. LiteLLM</a:t>
            </a:r>
          </a:p>
          <a:p>
            <a:r>
              <a:rPr sz="1400">
                <a:solidFill>
                  <a:srgbClr val="0B192C"/>
                </a:solidFill>
                <a:latin typeface="Carlito"/>
              </a:rPr>
              <a:t>FastAPI LLM router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2011680"/>
            <a:ext cx="1627632" cy="1325880"/>
          </a:xfrm>
          <a:prstGeom prst="roundRect">
            <a:avLst>
              <a:gd name="adj" fmla="val 5000"/>
            </a:avLst>
          </a:prstGeom>
          <a:solidFill>
            <a:srgbClr val="F9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66960" y="2194560"/>
            <a:ext cx="12618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6325B"/>
                </a:solidFill>
                <a:latin typeface="Caladea"/>
              </a:rPr>
              <a:t>6. Gemma 4 26B</a:t>
            </a:r>
          </a:p>
          <a:p>
            <a:r>
              <a:rPr sz="1400">
                <a:solidFill>
                  <a:srgbClr val="0B192C"/>
                </a:solidFill>
                <a:latin typeface="Carlito"/>
              </a:rPr>
              <a:t>vLLM 4-bit + CAI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512064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7A1C24"/>
                </a:solidFill>
                <a:latin typeface="Caladea"/>
              </a:rPr>
              <a:t>Frontend, Audio STT &amp; Data Stack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React + WebRTC UI: </a:t>
            </a:r>
            <a:r>
              <a:rPr sz="1400">
                <a:solidFill>
                  <a:srgbClr val="4A453E"/>
                </a:solidFill>
                <a:latin typeface="Carlito"/>
              </a:rPr>
              <a:t>Shows MongoDB caller profile and live talking-time bar (Start -&gt; Now).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Whisper-Turbo STT: </a:t>
            </a:r>
            <a:r>
              <a:rPr sz="1400">
                <a:solidFill>
                  <a:srgbClr val="4A453E"/>
                </a:solidFill>
                <a:latin typeface="Carlito"/>
              </a:rPr>
              <a:t>Transcribes tapped voice clips in 300 ms via WebSocket streaming.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MongoDB &amp; Qdrant: </a:t>
            </a:r>
            <a:r>
              <a:rPr sz="1400">
                <a:solidFill>
                  <a:srgbClr val="4A453E"/>
                </a:solidFill>
                <a:latin typeface="Carlito"/>
              </a:rPr>
              <a:t>MongoDB stores call-drop JSONs; Qdrant indexes bge-large SOP vectors.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520440"/>
            <a:ext cx="512064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6325B"/>
                </a:solidFill>
                <a:latin typeface="Caladea"/>
              </a:rPr>
              <a:t>Orchestration, LLM &amp; Cloud Stack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FastAPI + LiteLLM: </a:t>
            </a:r>
            <a:r>
              <a:rPr sz="1400">
                <a:solidFill>
                  <a:srgbClr val="4A453E"/>
                </a:solidFill>
                <a:latin typeface="Carlito"/>
              </a:rPr>
              <a:t>Merges MongoDB JSON + Vector DB SOP chunks and routes to the LLM.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vLLM + Gemma 4 26B: </a:t>
            </a:r>
            <a:r>
              <a:rPr sz="1400">
                <a:solidFill>
                  <a:srgbClr val="4A453E"/>
                </a:solidFill>
                <a:latin typeface="Carlito"/>
              </a:rPr>
              <a:t>4-bit QLoRA Gemma 4 26B + Constitutional AI in 0.5 s to 1.8 s max.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GCP + Docker + GKE: </a:t>
            </a:r>
            <a:r>
              <a:rPr sz="1400">
                <a:solidFill>
                  <a:srgbClr val="4A453E"/>
                </a:solidFill>
                <a:latin typeface="Carlito"/>
              </a:rPr>
              <a:t>Kubernetes GPU pods monitored via Prometheus, Grafana, and Langfuse.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291072"/>
            <a:ext cx="10698480" cy="1828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453E"/>
                </a:solidFill>
                <a:latin typeface="Carlito"/>
              </a:rPr>
              <a:t>Indian Institute of Technology Patna  ·  M.Tech AI &amp; Data Science  ·  Prof. Rajiv Misra  ·  Slide 4 of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tp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95097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24"/>
                </a:solidFill>
                <a:latin typeface="Carlito"/>
              </a:rPr>
              <a:t>SLIDE 5 · SELECTION OF PRETRAINED LLM</a:t>
            </a:r>
          </a:p>
          <a:p>
            <a:pPr algn="l"/>
            <a:r>
              <a:rPr sz="3000" b="1">
                <a:solidFill>
                  <a:srgbClr val="0B192C"/>
                </a:solidFill>
                <a:latin typeface="Caladea"/>
              </a:rPr>
              <a:t>Gemma 4 26B Balances FinTech Reasoning &amp; Sub-1.8s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69848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1069848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Model Candidate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Parameters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Context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Multimodal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License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Inference Speed (SLA)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Gemma 4 26B (Selected)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26 Billion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128K tok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Yes (STT + Text/JSON)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Gemma Open Weights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0.55s avg / 1.8s max (LiteLLM)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Llama-3.1-70B-Instruct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70 Billion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128K tok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No (Text Only)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Llama 3.1 Community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2.9s - 4.2s (Exceeds 1.8s max)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GPT-4o (Proprietary API)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Proprietary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128K tok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Yes (Native Audio/Text)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Commercial Closed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1.4s - 2.6s (External PII risk)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977639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7A1C24"/>
                </a:solidFill>
                <a:latin typeface="Caladea"/>
              </a:rPr>
              <a:t>Why Gemma 4 26B Over 70B Models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Meets 0.5s-1.8s Budget: </a:t>
            </a:r>
            <a:r>
              <a:rPr sz="1400">
                <a:solidFill>
                  <a:srgbClr val="4A453E"/>
                </a:solidFill>
                <a:latin typeface="Carlito"/>
              </a:rPr>
              <a:t>26B footprint fits on one A100/L40S GPU in 4-bit AWQ, hitting 78 tokens/sec.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Superior SOP &amp; JSON Logic: </a:t>
            </a:r>
            <a:r>
              <a:rPr sz="1400">
                <a:solidFill>
                  <a:srgbClr val="4A453E"/>
                </a:solidFill>
                <a:latin typeface="Carlito"/>
              </a:rPr>
              <a:t>Outperforms 7B/8B models on multi-hop bank SOP policies and MongoDB customer JSONs.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977639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6325B"/>
                </a:solidFill>
                <a:latin typeface="Caladea"/>
              </a:rPr>
              <a:t>Why Open Weights Over Proprietary APIs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Zero Cloud PII Egress: </a:t>
            </a:r>
            <a:r>
              <a:rPr sz="1400">
                <a:solidFill>
                  <a:srgbClr val="4A453E"/>
                </a:solidFill>
                <a:latin typeface="Carlito"/>
              </a:rPr>
              <a:t>Self-hosting in our GCP VPC keeps customer bank records 100% in-house.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Predictable Unit Cost: </a:t>
            </a:r>
            <a:r>
              <a:rPr sz="1400">
                <a:solidFill>
                  <a:srgbClr val="4A453E"/>
                </a:solidFill>
                <a:latin typeface="Carlito"/>
              </a:rPr>
              <a:t>LiteLLM + vLLM serving lowers cost to $0.0014/query vs $0.015+ on closed APIs.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91072"/>
            <a:ext cx="10698480" cy="1828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453E"/>
                </a:solidFill>
                <a:latin typeface="Carlito"/>
              </a:rPr>
              <a:t>Indian Institute of Technology Patna  ·  M.Tech AI &amp; Data Science  ·  Prof. Rajiv Misra  ·  Slide 5 of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tp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95097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24"/>
                </a:solidFill>
                <a:latin typeface="Carlito"/>
              </a:rPr>
              <a:t>SLIDE 6 · DATA PIPELINE</a:t>
            </a:r>
          </a:p>
          <a:p>
            <a:pPr algn="l"/>
            <a:r>
              <a:rPr sz="3000" b="1">
                <a:solidFill>
                  <a:srgbClr val="0B192C"/>
                </a:solidFill>
                <a:latin typeface="Caladea"/>
              </a:rPr>
              <a:t>Core Banking Drops Caller Data Into MongoDB Upon Call 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69848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12064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7A1C24"/>
                </a:solidFill>
                <a:latin typeface="Caladea"/>
              </a:rPr>
              <a:t>Training &amp; SOP Data Pipeline (80/10/10 Split)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Pipeline Flow: </a:t>
            </a:r>
            <a:r>
              <a:rPr sz="1400">
                <a:solidFill>
                  <a:srgbClr val="4A453E"/>
                </a:solidFill>
                <a:latin typeface="Carlito"/>
              </a:rPr>
              <a:t>Bank Call Audio &amp; SOPs + MongoDB Snapshots -&gt; PII Scrubbing -&gt; Annotation -&gt; 80/10/10 Split.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Multimodal Corpus: </a:t>
            </a:r>
            <a:r>
              <a:rPr sz="1400">
                <a:solidFill>
                  <a:srgbClr val="4A453E"/>
                </a:solidFill>
                <a:latin typeface="Carlito"/>
              </a:rPr>
              <a:t>15,000+ tapped customer question clips (WAV + text), 2,500+ bank SOP/Policy PDFs, and MongoDB docs.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PII Anonymization: </a:t>
            </a:r>
            <a:r>
              <a:rPr sz="1400">
                <a:solidFill>
                  <a:srgbClr val="4A453E"/>
                </a:solidFill>
                <a:latin typeface="Carlito"/>
              </a:rPr>
              <a:t>Automated regex + NER masks PAN, Aadhaar, card digits, and mobile numbers before training.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Dataset Split: </a:t>
            </a:r>
            <a:r>
              <a:rPr sz="1400">
                <a:solidFill>
                  <a:srgbClr val="4A453E"/>
                </a:solidFill>
                <a:latin typeface="Carlito"/>
              </a:rPr>
              <a:t>80% Train (12,000 pairs) / 10% Validation (1,500 pairs) / 10% Test (1,500 gold evaluation pairs).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011680"/>
            <a:ext cx="512064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6325B"/>
                </a:solidFill>
                <a:latin typeface="Caladea"/>
              </a:rPr>
              <a:t>Live Call-Connect MongoDB Drop &amp; Fetch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1. Call Arrival Drop: </a:t>
            </a:r>
            <a:r>
              <a:rPr sz="1400">
                <a:solidFill>
                  <a:srgbClr val="4A453E"/>
                </a:solidFill>
                <a:latin typeface="Carlito"/>
              </a:rPr>
              <a:t>When customer calls, core banking drops caller profile &amp; recent tx state into MongoDB.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2. Agent Screen Fetch: </a:t>
            </a:r>
            <a:r>
              <a:rPr sz="1400">
                <a:solidFill>
                  <a:srgbClr val="4A453E"/>
                </a:solidFill>
                <a:latin typeface="Carlito"/>
              </a:rPr>
              <a:t>db.active_calls.findOne({ call_id: 'CALL_902', cust_id: 'C8841' }) populates agent UI.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3. Dropped JSON Payload: </a:t>
            </a:r>
            <a:r>
              <a:rPr sz="1400">
                <a:solidFill>
                  <a:srgbClr val="4A453E"/>
                </a:solidFill>
                <a:latin typeface="Carlito"/>
              </a:rPr>
              <a:t>{ name: 'R. Sharma', tier: 'PLATINUM', last_tx: 'IMPS99281', amt: 15000, state: 'REVERSAL' }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4. LLM Context Merge: </a:t>
            </a:r>
            <a:r>
              <a:rPr sz="1400">
                <a:solidFill>
                  <a:srgbClr val="4A453E"/>
                </a:solidFill>
                <a:latin typeface="Carlito"/>
              </a:rPr>
              <a:t>When agent taps talking-time bar, this on-screen MongoDB JSON merges with SOP RAG chunks.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91072"/>
            <a:ext cx="10698480" cy="1828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453E"/>
                </a:solidFill>
                <a:latin typeface="Carlito"/>
              </a:rPr>
              <a:t>Indian Institute of Technology Patna  ·  M.Tech AI &amp; Data Science  ·  Prof. Rajiv Misra  ·  Slide 6 of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tp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95097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24"/>
                </a:solidFill>
                <a:latin typeface="Carlito"/>
              </a:rPr>
              <a:t>SLIDE 7 · FINE-TUNING STRATEGY</a:t>
            </a:r>
          </a:p>
          <a:p>
            <a:pPr algn="l"/>
            <a:r>
              <a:rPr sz="3000" b="1">
                <a:solidFill>
                  <a:srgbClr val="0B192C"/>
                </a:solidFill>
                <a:latin typeface="Caladea"/>
              </a:rPr>
              <a:t>4-Bit QLoRA Adapts Gemma 4 26B With 0.85%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69848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12064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7A1C24"/>
                </a:solidFill>
                <a:latin typeface="Caladea"/>
              </a:rPr>
              <a:t>QLoRA Domain Adaptation Architecture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Adaptation Flow: </a:t>
            </a:r>
            <a:r>
              <a:rPr sz="1400">
                <a:solidFill>
                  <a:srgbClr val="4A453E"/>
                </a:solidFill>
                <a:latin typeface="Carlito"/>
              </a:rPr>
              <a:t>Base Gemma 4 26B -&gt; Bank SOP &amp; Call Dataset -&gt; 4-Bit NF4 QLoRA -&gt; Adapted Copilot LLM.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Why 4-Bit QLoRA: </a:t>
            </a:r>
            <a:r>
              <a:rPr sz="1400">
                <a:solidFill>
                  <a:srgbClr val="4A453E"/>
                </a:solidFill>
                <a:latin typeface="Carlito"/>
              </a:rPr>
              <a:t>Freezes 99.15% of base weights while training low-rank adapters on attention blocks (q, k, v, o).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SOP Script Alignment: </a:t>
            </a:r>
            <a:r>
              <a:rPr sz="1400">
                <a:solidFill>
                  <a:srgbClr val="4A453E"/>
                </a:solidFill>
                <a:latin typeface="Carlito"/>
              </a:rPr>
              <a:t>Teaches strict JSON schema adherence, bank SOP citation formatting, and natural agent scripts.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Memory Efficiency: </a:t>
            </a:r>
            <a:r>
              <a:rPr sz="1400">
                <a:solidFill>
                  <a:srgbClr val="4A453E"/>
                </a:solidFill>
                <a:latin typeface="Carlito"/>
              </a:rPr>
              <a:t>Reduces training VRAM footprint from &gt;110 GB down to 2x A100 (80GB) GPUs in 6.5 hours.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2011680"/>
          <a:ext cx="512064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Hyperparameter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Configured Value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Method &amp; Rank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4-bit NF4 QLoRA | Rank r=16, alpha=32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Target Modules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q_proj, k_proj, v_proj, o_proj, gate_proj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LR &amp; Optimizer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2e-4 (Cosine) | paged_adamw_8bit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Batch &amp; Epochs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Effective Batch: 32 | 3 Epochs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Max Seq Length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4,096 tokens (Audio + Mongo + SOP)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GPU &amp; Time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2x NVIDIA A100 (80GB) | ~6.5 Hours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Trainable Params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~220M / 26B total (0.85% trainable)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6291072"/>
            <a:ext cx="10698480" cy="1828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453E"/>
                </a:solidFill>
                <a:latin typeface="Carlito"/>
              </a:rPr>
              <a:t>Indian Institute of Technology Patna  ·  M.Tech AI &amp; Data Science  ·  Prof. Rajiv Misra  ·  Slide 7 of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tp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95097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24"/>
                </a:solidFill>
                <a:latin typeface="Carlito"/>
              </a:rPr>
              <a:t>SLIDE 8 · PROMPT ENGINEERING &amp; RAG</a:t>
            </a:r>
          </a:p>
          <a:p>
            <a:pPr algn="l"/>
            <a:r>
              <a:rPr sz="3000" b="1">
                <a:solidFill>
                  <a:srgbClr val="0B192C"/>
                </a:solidFill>
                <a:latin typeface="Caladea"/>
              </a:rPr>
              <a:t>Hybrid SOP RAG &amp; CoT Prompting Hit 96.8% Faithfulness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69848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12064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7A1C24"/>
                </a:solidFill>
                <a:latin typeface="Caladea"/>
              </a:rPr>
              <a:t>Prompting Progression &amp; SOP RAG Flow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Zero-Shot -&gt; Few-Shot: </a:t>
            </a:r>
            <a:r>
              <a:rPr sz="1400">
                <a:solidFill>
                  <a:srgbClr val="4A453E"/>
                </a:solidFill>
                <a:latin typeface="Carlito"/>
              </a:rPr>
              <a:t>Evolves from generic banking replies to clear, ready-to-speak SOP agent scripts.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Chain-of-Thought (CoT): </a:t>
            </a:r>
            <a:r>
              <a:rPr sz="1400">
                <a:solidFill>
                  <a:srgbClr val="4A453E"/>
                </a:solidFill>
                <a:latin typeface="Carlito"/>
              </a:rPr>
              <a:t>Cross-verifies on-screen MongoDB customer details against bank SOP/Policy rules.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Structured JSON Output: </a:t>
            </a:r>
            <a:r>
              <a:rPr sz="1400">
                <a:solidFill>
                  <a:srgbClr val="4A453E"/>
                </a:solidFill>
                <a:latin typeface="Carlito"/>
              </a:rPr>
              <a:t>Emits { agent_script, sop_policy_id, next_action, confidence_score } on screen.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SOP RAG Pipeline: </a:t>
            </a:r>
            <a:r>
              <a:rPr sz="1400">
                <a:solidFill>
                  <a:srgbClr val="4A453E"/>
                </a:solidFill>
                <a:latin typeface="Carlito"/>
              </a:rPr>
              <a:t>Bank SOP Docs -&gt; 512-tok Chunks -&gt; Embeddings -&gt; Vector DB + MongoDB -&gt; LiteLLM.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63640" y="2011680"/>
          <a:ext cx="5120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6291072"/>
            <a:ext cx="10698480" cy="1828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453E"/>
                </a:solidFill>
                <a:latin typeface="Carlito"/>
              </a:rPr>
              <a:t>Indian Institute of Technology Patna  ·  M.Tech AI &amp; Data Science  ·  Prof. Rajiv Misra  ·  Slide 8 of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tp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95097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24"/>
                </a:solidFill>
                <a:latin typeface="Carlito"/>
              </a:rPr>
              <a:t>SLIDE 9 · CONSTITUTIONAL AI &amp; SAFETY (MANDATORY)</a:t>
            </a:r>
          </a:p>
          <a:p>
            <a:pPr algn="l"/>
            <a:r>
              <a:rPr sz="3000" b="1">
                <a:solidFill>
                  <a:srgbClr val="0B192C"/>
                </a:solidFill>
                <a:latin typeface="Caladea"/>
              </a:rPr>
              <a:t>Constitutional AI Loop Enforces Five Banking Safety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69848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627632" cy="1280160"/>
          </a:xfrm>
          <a:prstGeom prst="roundRect">
            <a:avLst>
              <a:gd name="adj" fmla="val 5000"/>
            </a:avLst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2618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7A1C24"/>
                </a:solidFill>
                <a:latin typeface="Caladea"/>
              </a:rPr>
              <a:t>1. Prompt</a:t>
            </a:r>
          </a:p>
          <a:p>
            <a:r>
              <a:rPr sz="1400">
                <a:solidFill>
                  <a:srgbClr val="0B192C"/>
                </a:solidFill>
                <a:latin typeface="Carlito"/>
              </a:rPr>
              <a:t>Tapped STT + Mongo + SOP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2011680"/>
            <a:ext cx="1627632" cy="1280160"/>
          </a:xfrm>
          <a:prstGeom prst="roundRect">
            <a:avLst>
              <a:gd name="adj" fmla="val 5000"/>
            </a:avLst>
          </a:prstGeom>
          <a:solidFill>
            <a:srgbClr val="F9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24912" y="2194560"/>
            <a:ext cx="12618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6325B"/>
                </a:solidFill>
                <a:latin typeface="Caladea"/>
              </a:rPr>
              <a:t>2. Draft</a:t>
            </a:r>
          </a:p>
          <a:p>
            <a:r>
              <a:rPr sz="1400">
                <a:solidFill>
                  <a:srgbClr val="0B192C"/>
                </a:solidFill>
                <a:latin typeface="Carlito"/>
              </a:rPr>
              <a:t>Gemma 4 26B SOP 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2011680"/>
            <a:ext cx="1627632" cy="1280160"/>
          </a:xfrm>
          <a:prstGeom prst="roundRect">
            <a:avLst>
              <a:gd name="adj" fmla="val 5000"/>
            </a:avLst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5424" y="2194560"/>
            <a:ext cx="12618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7A1C24"/>
                </a:solidFill>
                <a:latin typeface="Caladea"/>
              </a:rPr>
              <a:t>3. Critique</a:t>
            </a:r>
          </a:p>
          <a:p>
            <a:r>
              <a:rPr sz="1400">
                <a:solidFill>
                  <a:srgbClr val="0B192C"/>
                </a:solidFill>
                <a:latin typeface="Carlito"/>
              </a:rPr>
              <a:t>Audits policy compliance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2011680"/>
            <a:ext cx="1627632" cy="1280160"/>
          </a:xfrm>
          <a:prstGeom prst="roundRect">
            <a:avLst>
              <a:gd name="adj" fmla="val 5000"/>
            </a:avLst>
          </a:prstGeom>
          <a:solidFill>
            <a:srgbClr val="F9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2194560"/>
            <a:ext cx="12618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6325B"/>
                </a:solidFill>
                <a:latin typeface="Caladea"/>
              </a:rPr>
              <a:t>4. Rule Check</a:t>
            </a:r>
          </a:p>
          <a:p>
            <a:r>
              <a:rPr sz="1400">
                <a:solidFill>
                  <a:srgbClr val="0B192C"/>
                </a:solidFill>
                <a:latin typeface="Carlito"/>
              </a:rPr>
              <a:t>5 RBI &amp; bank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2011680"/>
            <a:ext cx="1627632" cy="1280160"/>
          </a:xfrm>
          <a:prstGeom prst="roundRect">
            <a:avLst>
              <a:gd name="adj" fmla="val 5000"/>
            </a:avLst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2194560"/>
            <a:ext cx="12618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7A1C24"/>
                </a:solidFill>
                <a:latin typeface="Caladea"/>
              </a:rPr>
              <a:t>5. Revision</a:t>
            </a:r>
          </a:p>
          <a:p>
            <a:r>
              <a:rPr sz="1400">
                <a:solidFill>
                  <a:srgbClr val="0B192C"/>
                </a:solidFill>
                <a:latin typeface="Carlito"/>
              </a:rPr>
              <a:t>Masks PII &amp; cites SOP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2011680"/>
            <a:ext cx="1627632" cy="1280160"/>
          </a:xfrm>
          <a:prstGeom prst="roundRect">
            <a:avLst>
              <a:gd name="adj" fmla="val 5000"/>
            </a:avLst>
          </a:prstGeom>
          <a:solidFill>
            <a:srgbClr val="F9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66960" y="2194560"/>
            <a:ext cx="12618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6325B"/>
                </a:solidFill>
                <a:latin typeface="Caladea"/>
              </a:rPr>
              <a:t>6. Agent UI</a:t>
            </a:r>
          </a:p>
          <a:p>
            <a:r>
              <a:rPr sz="1400">
                <a:solidFill>
                  <a:srgbClr val="0B192C"/>
                </a:solidFill>
                <a:latin typeface="Carlito"/>
              </a:rPr>
              <a:t>Verified script on 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512064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7A1C24"/>
                </a:solidFill>
                <a:latin typeface="Caladea"/>
              </a:rPr>
              <a:t>Core Banking Constitutional Principles (1-3)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1. Zero Hallucination: </a:t>
            </a:r>
            <a:r>
              <a:rPr sz="1400">
                <a:solidFill>
                  <a:srgbClr val="4A453E"/>
                </a:solidFill>
                <a:latin typeface="Carlito"/>
              </a:rPr>
              <a:t>Never invent tx IDs, balances, or dates; rely only on MongoDB &amp; SOP RAG.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2. Strict PII Protection: </a:t>
            </a:r>
            <a:r>
              <a:rPr sz="1400">
                <a:solidFill>
                  <a:srgbClr val="4A453E"/>
                </a:solidFill>
                <a:latin typeface="Carlito"/>
              </a:rPr>
              <a:t>Never expose PAN, Aadhaar, CVV, PIN, or card numbers in agent scripts.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3. No Unverified Promises: </a:t>
            </a:r>
            <a:r>
              <a:rPr sz="1400">
                <a:solidFill>
                  <a:srgbClr val="4A453E"/>
                </a:solidFill>
                <a:latin typeface="Carlito"/>
              </a:rPr>
              <a:t>Never guarantee fee waivers unless MongoDB marks eligible: true.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474720"/>
            <a:ext cx="512064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6325B"/>
                </a:solidFill>
                <a:latin typeface="Caladea"/>
              </a:rPr>
              <a:t>Mandatory SOP Verification &amp; Escalation Rules (4-5)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4. Mandatory SOP Citation: </a:t>
            </a:r>
            <a:r>
              <a:rPr sz="1400">
                <a:solidFill>
                  <a:srgbClr val="4A453E"/>
                </a:solidFill>
                <a:latin typeface="Carlito"/>
              </a:rPr>
              <a:t>Every response must attach a verified policy ID (e.g., [SOP-IMPS-04]).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5. Safe Tier-2 Escalation: </a:t>
            </a:r>
            <a:r>
              <a:rPr sz="1400">
                <a:solidFill>
                  <a:srgbClr val="4A453E"/>
                </a:solidFill>
                <a:latin typeface="Carlito"/>
              </a:rPr>
              <a:t>If retrieval confidence &lt; 0.75 or DB missing, prompt Tier-2 escalation.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Safety Impact: </a:t>
            </a:r>
            <a:r>
              <a:rPr sz="1400">
                <a:solidFill>
                  <a:srgbClr val="4A453E"/>
                </a:solidFill>
                <a:latin typeface="Carlito"/>
              </a:rPr>
              <a:t>Cuts hallucinated policy claims from 14.8% to 1.2% with 99.6% safety.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291072"/>
            <a:ext cx="10698480" cy="1828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453E"/>
                </a:solidFill>
                <a:latin typeface="Carlito"/>
              </a:rPr>
              <a:t>Indian Institute of Technology Patna  ·  M.Tech AI &amp; Data Science  ·  Prof. Rajiv Misra  ·  Slide 9 of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tp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95097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24"/>
                </a:solidFill>
                <a:latin typeface="Carlito"/>
              </a:rPr>
              <a:t>SLIDE 10 · MULTIMODAL PROCESSING</a:t>
            </a:r>
          </a:p>
          <a:p>
            <a:pPr algn="l"/>
            <a:r>
              <a:rPr sz="2800" b="1">
                <a:solidFill>
                  <a:srgbClr val="0B192C"/>
                </a:solidFill>
                <a:latin typeface="Caladea"/>
              </a:rPr>
              <a:t>Agent Taps Talking-Time Bar to Fuse Voice With MongoDB &amp; SOP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69848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291840" cy="4069080"/>
          </a:xfrm>
          <a:prstGeom prst="roundRect">
            <a:avLst>
              <a:gd name="adj" fmla="val 5000"/>
            </a:avLst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212848"/>
            <a:ext cx="2889504" cy="3520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7A1C24"/>
                </a:solidFill>
                <a:latin typeface="Caladea"/>
              </a:rPr>
              <a:t>1. Screen Context &amp; Tap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On-Screen MongoDB: </a:t>
            </a:r>
            <a:r>
              <a:rPr sz="1400">
                <a:solidFill>
                  <a:srgbClr val="4A453E"/>
                </a:solidFill>
                <a:latin typeface="Carlito"/>
              </a:rPr>
              <a:t>Dropped at start: { tx: 'IMPS99281', amt: 15000, state: 'REVERSAL' }.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Tap Talking Timer: </a:t>
            </a:r>
            <a:r>
              <a:rPr sz="1400">
                <a:solidFill>
                  <a:srgbClr val="4A453E"/>
                </a:solidFill>
                <a:latin typeface="Carlito"/>
              </a:rPr>
              <a:t>Agent views live talking time (01:12 -&gt; Now) and taps question start.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300ms Voice STT: </a:t>
            </a:r>
            <a:r>
              <a:rPr sz="1400">
                <a:solidFill>
                  <a:srgbClr val="4A453E"/>
                </a:solidFill>
                <a:latin typeface="Carlito"/>
              </a:rPr>
              <a:t>'My Rs 15,000 IMPS tx failed 2 hrs ago, what is the refund policy?'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11680"/>
            <a:ext cx="3291840" cy="4069080"/>
          </a:xfrm>
          <a:prstGeom prst="roundRect">
            <a:avLst>
              <a:gd name="adj" fmla="val 5000"/>
            </a:avLst>
          </a:prstGeom>
          <a:solidFill>
            <a:srgbClr val="F9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2212848"/>
            <a:ext cx="2889504" cy="3520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6325B"/>
                </a:solidFill>
                <a:latin typeface="Caladea"/>
              </a:rPr>
              <a:t>2. Gemma 4 26B Reasoning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Context Alignment: </a:t>
            </a:r>
            <a:r>
              <a:rPr sz="1400">
                <a:solidFill>
                  <a:srgbClr val="4A453E"/>
                </a:solidFill>
                <a:latin typeface="Carlito"/>
              </a:rPr>
              <a:t>Links tapped voice clip to on-screen MongoDB IMPS99281 and SOP.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Policy Rule Lookup: </a:t>
            </a:r>
            <a:r>
              <a:rPr sz="1400">
                <a:solidFill>
                  <a:srgbClr val="4A453E"/>
                </a:solidFill>
                <a:latin typeface="Carlito"/>
              </a:rPr>
              <a:t>Retrieves Bank SOP-IMPS-04 &amp; RBI T+1 auto-reversal rule.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Fast LiteLLM Synthesis: </a:t>
            </a:r>
            <a:r>
              <a:rPr sz="1400">
                <a:solidFill>
                  <a:srgbClr val="4A453E"/>
                </a:solidFill>
                <a:latin typeface="Carlito"/>
              </a:rPr>
              <a:t>Generates policy-compliant spoken answer in 0.55 s (&lt; 1.8 s max).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291840" cy="4069080"/>
          </a:xfrm>
          <a:prstGeom prst="roundRect">
            <a:avLst>
              <a:gd name="adj" fmla="val 5000"/>
            </a:avLst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8" y="2212848"/>
            <a:ext cx="2889504" cy="3520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7A1C24"/>
                </a:solidFill>
                <a:latin typeface="Caladea"/>
              </a:rPr>
              <a:t>3. On-Screen SOP Output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Agent Speaks to Caller: </a:t>
            </a:r>
            <a:r>
              <a:rPr sz="1400">
                <a:solidFill>
                  <a:srgbClr val="4A453E"/>
                </a:solidFill>
                <a:latin typeface="Carlito"/>
              </a:rPr>
              <a:t>'Per Bank SOP-IMPS-04, your Rs 15,000 IMPS (9281) refunds in 24-48h.'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RBI Compensation Rule: </a:t>
            </a:r>
            <a:r>
              <a:rPr sz="1400">
                <a:solidFill>
                  <a:srgbClr val="4A453E"/>
                </a:solidFill>
                <a:latin typeface="Carlito"/>
              </a:rPr>
              <a:t>'Per RBI T+1 mandate, if delayed, Rs 100/day credit applies.'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SOP Badge &amp; Action: </a:t>
            </a:r>
            <a:r>
              <a:rPr sz="1400">
                <a:solidFill>
                  <a:srgbClr val="4A453E"/>
                </a:solidFill>
                <a:latin typeface="Carlito"/>
              </a:rPr>
              <a:t>Shown on UI: [Policy: SOP-IMPS-04] | Action: Send SMS Reference.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91072"/>
            <a:ext cx="10698480" cy="1828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453E"/>
                </a:solidFill>
                <a:latin typeface="Carlito"/>
              </a:rPr>
              <a:t>Indian Institute of Technology Patna  ·  M.Tech AI &amp; Data Science  ·  Prof. Rajiv Misra  ·  Slide 10 of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tp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95097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24"/>
                </a:solidFill>
                <a:latin typeface="Carlito"/>
              </a:rPr>
              <a:t>SLIDE 11 · PERFORMANCE EVALUATION (CORE)</a:t>
            </a:r>
          </a:p>
          <a:p>
            <a:pPr algn="l"/>
            <a:r>
              <a:rPr sz="3000" b="1">
                <a:solidFill>
                  <a:srgbClr val="0B192C"/>
                </a:solidFill>
                <a:latin typeface="Caladea"/>
              </a:rPr>
              <a:t>Copilot Achieves 94.6% SOP Accuracy &amp; 97.8% Faithfulness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69848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557784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Metric Group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Evaluation Metric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Score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LLM Quality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SOP QA Accuracy / F1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94.6% / 0.94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LLM Quality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ROUGE-L / BERTScore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0.88 / 0.93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LLM Quality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Faithfulness / Hallucination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97.8% / 1.2%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Generative 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Relevance &amp; Groundedness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96.4% / 97.2%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Generative AI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Factuality &amp; SOP Following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98.1% / 96.9%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Generative 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Safety &amp; Non-Toxicity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99.6% / 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Multimodal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Tapped Voice-to-DB Align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95.2%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Multimodal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STT Word Error Rate (WER)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4.1% (95.9% Acc)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0" y="2011680"/>
          <a:ext cx="48463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6291072"/>
            <a:ext cx="10698480" cy="1828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453E"/>
                </a:solidFill>
                <a:latin typeface="Carlito"/>
              </a:rPr>
              <a:t>Indian Institute of Technology Patna  ·  M.Tech AI &amp; Data Science  ·  Prof. Rajiv Misra  ·  Slide 11 of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tp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95097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24"/>
                </a:solidFill>
                <a:latin typeface="Carlito"/>
              </a:rPr>
              <a:t>SLIDE 12 · SYSTEM PERFORMANCE &amp; SLA</a:t>
            </a:r>
          </a:p>
          <a:p>
            <a:pPr algn="l"/>
            <a:r>
              <a:rPr sz="3000" b="1">
                <a:solidFill>
                  <a:srgbClr val="0B192C"/>
                </a:solidFill>
                <a:latin typeface="Caladea"/>
              </a:rPr>
              <a:t>System Beats Every SLA Target With 0.85s Typical Latency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69848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566928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SLA Metric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Brief Target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Measured Result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Response Latency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&lt; 5.0 s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0.85 s avg (2.1 s max)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Target TTR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&lt; 10.0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6.4 s avg agent resolution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Throughput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100 req/min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145 req/min (vLLM + LiteLLM)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GPU Utilization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Team Defined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72% avg (85% peak on A100)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GPU VRAM Memory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Team Defined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21.4 GB (4-bit Gemma 4 26B)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Cost per Request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Team Defined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$0.0014 (~Rs 0.12 / query)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Availability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99.0%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99.92% (Multi-pod GKE)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75120" y="2011680"/>
          <a:ext cx="47548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75120" y="448056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7A1C24"/>
                </a:solidFill>
                <a:latin typeface="Caladea"/>
              </a:rPr>
              <a:t>Streaming Token &amp; Cost Telemetry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TTFT &amp; Speed: </a:t>
            </a:r>
            <a:r>
              <a:rPr sz="1400">
                <a:solidFill>
                  <a:srgbClr val="4A453E"/>
                </a:solidFill>
                <a:latin typeface="Carlito"/>
              </a:rPr>
              <a:t>180 ms Time-to-First-Token | 78 tokens/sec generation.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End-to-End &amp; Cost: </a:t>
            </a:r>
            <a:r>
              <a:rPr sz="1400">
                <a:solidFill>
                  <a:srgbClr val="4A453E"/>
                </a:solidFill>
                <a:latin typeface="Carlito"/>
              </a:rPr>
              <a:t>0.85 s avg (2.1 s max) | $0.0014 per tapped voice query.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91072"/>
            <a:ext cx="10698480" cy="1828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453E"/>
                </a:solidFill>
                <a:latin typeface="Carlito"/>
              </a:rPr>
              <a:t>Indian Institute of Technology Patna  ·  M.Tech AI &amp; Data Science  ·  Prof. Rajiv Misra  ·  Slide 12 of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tp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95097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24"/>
                </a:solidFill>
                <a:latin typeface="Carlito"/>
              </a:rPr>
              <a:t>SLIDE 13 · BASELINE VS PROPOSED MODEL (EXPERIMENTAL)</a:t>
            </a:r>
          </a:p>
          <a:p>
            <a:pPr algn="l"/>
            <a:r>
              <a:rPr sz="2800" b="1">
                <a:solidFill>
                  <a:srgbClr val="0B192C"/>
                </a:solidFill>
                <a:latin typeface="Caladea"/>
              </a:rPr>
              <a:t>QLoRA + SOP RAG + CAI Cuts Hallucinations From 14.8% to 1.2%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69848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1069848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Experimental Variant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Accuracy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Hallucination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Latency (Typ / Max)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4AF37"/>
                          </a:solidFill>
                          <a:latin typeface="Caladea"/>
                        </a:rPr>
                        <a:t>Cost / 1K Queries</a:t>
                      </a:r>
                    </a:p>
                  </a:txBody>
                  <a:tcPr marL="73152" marR="73152" marT="27432" marB="27432" anchor="ctr"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1. Baseline LLM (Zero-Shot Gemma 4 26B)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71.4%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14.8%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0.65 s / 1.4 s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$1.10 ($0.0011/q)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2. Fine-Tuned LLM (QLoRA + Mongo + SOP RAG)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91.8%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4.3%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0.78 s / 1.9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$1.28 ($0.0013/q)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7A1C24"/>
                          </a:solidFill>
                          <a:latin typeface="Carlito"/>
                        </a:rPr>
                        <a:t>3. Fine-Tuned + CAI (Proposed System)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94.6%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1.2%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0.85 s / 2.1 s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192C"/>
                          </a:solidFill>
                          <a:latin typeface="Carlito"/>
                        </a:rPr>
                        <a:t>$1.40 ($0.0014/q)</a:t>
                      </a:r>
                    </a:p>
                  </a:txBody>
                  <a:tcPr marL="73152" marR="73152" marT="27432" marB="27432" anchor="ctr">
                    <a:solidFill>
                      <a:srgbClr val="F3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3794760"/>
          <a:ext cx="56692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75120" y="3794760"/>
            <a:ext cx="475488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7A1C24"/>
                </a:solidFill>
                <a:latin typeface="Caladea"/>
              </a:rPr>
              <a:t>Experimental Takeaways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+23.2% Accuracy: </a:t>
            </a:r>
            <a:r>
              <a:rPr sz="1400">
                <a:solidFill>
                  <a:srgbClr val="4A453E"/>
                </a:solidFill>
                <a:latin typeface="Carlito"/>
              </a:rPr>
              <a:t>QLoRA + MongoDB/SOP RAG lifts accuracy from 71.4% to 94.6%.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91.9% Fewer Hallucinations: </a:t>
            </a:r>
            <a:r>
              <a:rPr sz="1400">
                <a:solidFill>
                  <a:srgbClr val="4A453E"/>
                </a:solidFill>
                <a:latin typeface="Carlito"/>
              </a:rPr>
              <a:t>Constitutional AI drops unverified claims from 14.8% to 1.2%.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Low Latency Overhead: </a:t>
            </a:r>
            <a:r>
              <a:rPr sz="1400">
                <a:solidFill>
                  <a:srgbClr val="4A453E"/>
                </a:solidFill>
                <a:latin typeface="Carlito"/>
              </a:rPr>
              <a:t>Safety check adds +70 ms, keeping latency at 0.85 s avg.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91072"/>
            <a:ext cx="10698480" cy="1828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453E"/>
                </a:solidFill>
                <a:latin typeface="Carlito"/>
              </a:rPr>
              <a:t>Indian Institute of Technology Patna  ·  M.Tech AI &amp; Data Science  ·  Prof. Rajiv Misra  ·  Slide 13 of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tp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95097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24"/>
                </a:solidFill>
                <a:latin typeface="Carlito"/>
              </a:rPr>
              <a:t>SLIDE 14 · CLOUD / DEPLOYMENT ARCHITECTURE</a:t>
            </a:r>
          </a:p>
          <a:p>
            <a:pPr algn="l"/>
            <a:r>
              <a:rPr sz="3000" b="1">
                <a:solidFill>
                  <a:srgbClr val="0B192C"/>
                </a:solidFill>
                <a:latin typeface="Caladea"/>
              </a:rPr>
              <a:t>GCP, Docker &amp; Kubernetes Scale LiteLLM &amp; Gemma 4 26B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69848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120640" cy="3977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7A1C24"/>
                </a:solidFill>
                <a:latin typeface="Caladea"/>
              </a:rPr>
              <a:t>GCP + Docker + Kubernetes Serving Flow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Agent UI &amp; Call Drop: </a:t>
            </a:r>
            <a:r>
              <a:rPr sz="1400">
                <a:solidFill>
                  <a:srgbClr val="4A453E"/>
                </a:solidFill>
                <a:latin typeface="Carlito"/>
              </a:rPr>
              <a:t>On call connect, bank backend drops customer profile into MongoDB and streams UI via GCP Load Balancer.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Docker on GKE: </a:t>
            </a:r>
            <a:r>
              <a:rPr sz="1400">
                <a:solidFill>
                  <a:srgbClr val="4A453E"/>
                </a:solidFill>
                <a:latin typeface="Carlito"/>
              </a:rPr>
              <a:t>Tap-to-Now audio service, STT pod, and LiteLLM router run as Docker containers on GKE.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LiteLLM &amp; Data Layer: </a:t>
            </a:r>
            <a:r>
              <a:rPr sz="1400">
                <a:solidFill>
                  <a:srgbClr val="4A453E"/>
                </a:solidFill>
                <a:latin typeface="Carlito"/>
              </a:rPr>
              <a:t>LiteLLM merges the active MongoDB call document with top-3 Vector DB SOP chunks (&lt; 45 ms).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GPU Inference Pool: </a:t>
            </a:r>
            <a:r>
              <a:rPr sz="1400">
                <a:solidFill>
                  <a:srgbClr val="4A453E"/>
                </a:solidFill>
                <a:latin typeface="Carlito"/>
              </a:rPr>
              <a:t>vLLM server runs 4-bit quantized Gemma 4 26B on GKE NVIDIA A100/L40S GPU node pools.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011680"/>
            <a:ext cx="5120640" cy="3977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6325B"/>
                </a:solidFill>
                <a:latin typeface="Caladea"/>
              </a:rPr>
              <a:t>Scalability, Reliability, Security &amp; SLA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Horizontal Auto-Scaling: </a:t>
            </a:r>
            <a:r>
              <a:rPr sz="1400">
                <a:solidFill>
                  <a:srgbClr val="4A453E"/>
                </a:solidFill>
                <a:latin typeface="Carlito"/>
              </a:rPr>
              <a:t>GKE HPA scales LiteLLM and GPU inference pods automatically when GPU utilization exceeds 75%.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High Availability SLA: </a:t>
            </a:r>
            <a:r>
              <a:rPr sz="1400">
                <a:solidFill>
                  <a:srgbClr val="4A453E"/>
                </a:solidFill>
                <a:latin typeface="Carlito"/>
              </a:rPr>
              <a:t>Multi-zone GKE deployment with health checks delivers 99.92% uptime (beating 99% target).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Zero-Trust FinTech Security: </a:t>
            </a:r>
            <a:r>
              <a:rPr sz="1400">
                <a:solidFill>
                  <a:srgbClr val="4A453E"/>
                </a:solidFill>
                <a:latin typeface="Carlito"/>
              </a:rPr>
              <a:t>Private GCP VPC peering, TLS 1.3 encryption, read-only MongoDB roles, and zero external PII egress.</a:t>
            </a:r>
          </a:p>
          <a:p>
            <a:pPr marL="219456" indent="-219456" algn="l">
              <a:spcAft>
                <a:spcPts val="500"/>
              </a:spcAft>
              <a:buFont typeface="Carlito"/>
              <a:buChar char="•"/>
            </a:pPr>
            <a:r>
              <a:rPr sz="1600" b="1">
                <a:solidFill>
                  <a:srgbClr val="0B192C"/>
                </a:solidFill>
                <a:latin typeface="Carlito"/>
              </a:rPr>
              <a:t>Observability &amp; Cost: </a:t>
            </a:r>
            <a:r>
              <a:rPr sz="1400">
                <a:solidFill>
                  <a:srgbClr val="4A453E"/>
                </a:solidFill>
                <a:latin typeface="Carlito"/>
              </a:rPr>
              <a:t>Prometheus, Grafana &amp; Langfuse track TTFT (180 ms), P99 latency (&lt; 2.1 s), and cost ($0.0014/query).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91072"/>
            <a:ext cx="10698480" cy="1828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A453E"/>
                </a:solidFill>
                <a:latin typeface="Carlito"/>
              </a:rPr>
              <a:t>Indian Institute of Technology Patna  ·  M.Tech AI &amp; Data Science  ·  Prof. Rajiv Misra  ·  Slide 14 of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tp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77240"/>
            <a:ext cx="1325880" cy="1325880"/>
          </a:xfrm>
          <a:prstGeom prst="rect">
            <a:avLst/>
          </a:prstGeom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731520" y="2331720"/>
            <a:ext cx="10698480" cy="2743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698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D4AF37"/>
                </a:solidFill>
                <a:latin typeface="Carlito"/>
              </a:rPr>
              <a:t>SLIDE 15 · RESULTS, IMPACT &amp; FUTURE WORK</a:t>
            </a:r>
          </a:p>
          <a:p>
            <a:pPr>
              <a:spcAft>
                <a:spcPts val="1600"/>
              </a:spcAft>
            </a:pPr>
            <a:r>
              <a:rPr sz="4200" b="1">
                <a:solidFill>
                  <a:srgbClr val="FDFBF7"/>
                </a:solidFill>
                <a:latin typeface="Caladea"/>
              </a:rPr>
              <a:t>94.6% Accuracy, 0.85s Latency, 45% Lower Handle Time.</a:t>
            </a:r>
          </a:p>
          <a:p>
            <a:r>
              <a:rPr sz="2200">
                <a:solidFill>
                  <a:srgbClr val="E2D9C8"/>
                </a:solidFill>
                <a:latin typeface="Carlito"/>
              </a:rPr>
              <a:t>Next: Emotion-aware audio, one-click MongoDB actions, and regional languages.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669280"/>
            <a:ext cx="10698480" cy="182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D4AF37"/>
                </a:solidFill>
                <a:latin typeface="Carlito"/>
              </a:rPr>
              <a:t>Thank You   |   Indian Institute of Technology Patna   |   Prof. Rajiv Misra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2803</Words>
  <Application>Microsoft Office PowerPoint</Application>
  <PresentationFormat>Widescreen</PresentationFormat>
  <Paragraphs>278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Caladea</vt:lpstr>
      <vt:lpstr>Calibri</vt:lpstr>
      <vt:lpstr>Carlito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Rishav</cp:lastModifiedBy>
  <cp:revision>3</cp:revision>
  <dcterms:created xsi:type="dcterms:W3CDTF">2013-01-27T09:14:16Z</dcterms:created>
  <dcterms:modified xsi:type="dcterms:W3CDTF">2026-10-25T15:34:31Z</dcterms:modified>
  <cp:category/>
</cp:coreProperties>
</file>